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92" r:id="rId35"/>
    <p:sldId id="291" r:id="rId36"/>
    <p:sldId id="290" r:id="rId37"/>
    <p:sldId id="289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19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Update Manager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t>Product Release Management System for Accops Products</a:t>
            </a:r>
          </a:p>
          <a:p>
            <a:endParaRPr/>
          </a:p>
          <a:p>
            <a:r>
              <a:t>Streamlining Version Control, Rollout, and Lifecycle Management</a:t>
            </a:r>
          </a:p>
          <a:p>
            <a:endParaRPr/>
          </a:p>
          <a:p>
            <a:r>
              <a:t>Accops Technologies - 2025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• Overview &amp; Problem Statement</a:t>
            </a:r>
          </a:p>
          <a:p>
            <a:r>
              <a:t>• Solution Architecture</a:t>
            </a:r>
          </a:p>
          <a:p>
            <a:r>
              <a:t>• Key Features &amp; Capabilities</a:t>
            </a:r>
          </a:p>
          <a:p>
            <a:r>
              <a:t>• Supported Products</a:t>
            </a:r>
          </a:p>
          <a:p>
            <a:r>
              <a:t>• Technical Stack</a:t>
            </a:r>
          </a:p>
          <a:p>
            <a:r>
              <a:t>• Implementation Phases</a:t>
            </a:r>
          </a:p>
          <a:p>
            <a:r>
              <a:t>• Benefits &amp; Value Proposition</a:t>
            </a:r>
          </a:p>
          <a:p>
            <a:r>
              <a:t>• Demo &amp; Screenshots</a:t>
            </a:r>
          </a:p>
          <a:p>
            <a:r>
              <a:t>• Future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t>What is Update Manager?</a:t>
            </a:r>
          </a:p>
          <a:p>
            <a:br/>
            <a:r>
              <a:t>A comprehensive automated update system and management portal for Accops products that:</a:t>
            </a:r>
          </a:p>
          <a:p>
            <a:r>
              <a:t>• Streamlines version control and rollout of updates</a:t>
            </a:r>
          </a:p>
          <a:p>
            <a:r>
              <a:t>• Provides proactive admin notifications</a:t>
            </a:r>
          </a:p>
          <a:p>
            <a:r>
              <a:t>• Ensures product versions are current, compatible, and centrally managed</a:t>
            </a:r>
          </a:p>
          <a:p>
            <a:r>
              <a:t>• Reduces manual overhead and upgrade errors</a:t>
            </a:r>
          </a:p>
          <a:p>
            <a:br/>
            <a:r>
              <a:t>Mission: Enhance operational efficiency and product lifecycle transparency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t>Current Challenges</a:t>
            </a:r>
          </a:p>
          <a:p>
            <a:br/>
            <a:r>
              <a:t>❌ Manual Upgrade Processes</a:t>
            </a:r>
          </a:p>
          <a:p>
            <a:pPr lvl="1"/>
            <a:r>
              <a:t>   • Time-consuming and error-prone</a:t>
            </a:r>
          </a:p>
          <a:p>
            <a:pPr lvl="1"/>
            <a:r>
              <a:t>   • Lack of centralized visibility</a:t>
            </a:r>
          </a:p>
          <a:p>
            <a:br/>
            <a:r>
              <a:t>❌ Version Management Complexity</a:t>
            </a:r>
          </a:p>
          <a:p>
            <a:pPr lvl="1"/>
            <a:r>
              <a:t>   • Multiple products across different platforms</a:t>
            </a:r>
          </a:p>
          <a:p>
            <a:pPr lvl="1"/>
            <a:r>
              <a:t>   • Compatibility tracking difficulties</a:t>
            </a:r>
          </a:p>
          <a:p>
            <a:br/>
            <a:r>
              <a:t>❌ Limited Visibility</a:t>
            </a:r>
          </a:p>
          <a:p>
            <a:pPr lvl="1"/>
            <a:r>
              <a:t>   • No real-time status updates</a:t>
            </a:r>
          </a:p>
          <a:p>
            <a:pPr lvl="1"/>
            <a:r>
              <a:t>   • Difficult to track deployment versions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dirty="0"/>
              <a:t>Update Manager - Complete Solution</a:t>
            </a:r>
          </a:p>
          <a:p>
            <a:br>
              <a:rPr dirty="0"/>
            </a:br>
            <a:r>
              <a:rPr dirty="0"/>
              <a:t>✅ Centralized Portal</a:t>
            </a:r>
          </a:p>
          <a:p>
            <a:pPr lvl="1"/>
            <a:r>
              <a:rPr dirty="0"/>
              <a:t>   • Real-time dashboard with version status</a:t>
            </a:r>
          </a:p>
          <a:p>
            <a:pPr lvl="1"/>
            <a:r>
              <a:rPr dirty="0"/>
              <a:t>   • Visual indicators for pending updates</a:t>
            </a:r>
          </a:p>
          <a:p>
            <a:pPr lvl="1"/>
            <a:r>
              <a:rPr dirty="0"/>
              <a:t>   • Batch update capabilities</a:t>
            </a:r>
          </a:p>
          <a:p>
            <a:br>
              <a:rPr dirty="0"/>
            </a:br>
            <a:r>
              <a:rPr dirty="0"/>
              <a:t>✅ Automated Workflows</a:t>
            </a:r>
          </a:p>
          <a:p>
            <a:pPr lvl="1"/>
            <a:r>
              <a:rPr dirty="0"/>
              <a:t>   • Version detection and notifications</a:t>
            </a:r>
          </a:p>
          <a:p>
            <a:pPr lvl="1"/>
            <a:r>
              <a:rPr dirty="0"/>
              <a:t>   • Compatibility validation</a:t>
            </a:r>
          </a:p>
          <a:p>
            <a:pPr lvl="1"/>
            <a:r>
              <a:rPr dirty="0"/>
              <a:t>   • Release approval workflow</a:t>
            </a:r>
          </a:p>
          <a:p>
            <a:br>
              <a:rPr dirty="0"/>
            </a:br>
            <a:r>
              <a:rPr dirty="0"/>
              <a:t>✅ Customer Management</a:t>
            </a:r>
          </a:p>
          <a:p>
            <a:pPr lvl="1"/>
            <a:r>
              <a:rPr dirty="0"/>
              <a:t>   • Multi-tenant support</a:t>
            </a:r>
          </a:p>
          <a:p>
            <a:pPr lvl="1"/>
            <a:r>
              <a:rPr dirty="0"/>
              <a:t>   • Deployment tracking</a:t>
            </a:r>
          </a:p>
          <a:p>
            <a:pPr lvl="1"/>
            <a:r>
              <a:rPr dirty="0"/>
              <a:t>   • License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Update Manager Portal (React)</a:t>
            </a:r>
          </a:p>
          <a:p>
            <a:pPr>
              <a:defRPr sz="1400"/>
            </a:pPr>
            <a:r>
              <a:t>  • Dashboard, Release Management, Customer UI</a:t>
            </a:r>
          </a:p>
          <a:p>
            <a:br/>
            <a:r>
              <a:t>RESTful API Layer (Go Backend)</a:t>
            </a:r>
          </a:p>
          <a:p>
            <a:pPr>
              <a:defRPr sz="1400"/>
            </a:pPr>
            <a:r>
              <a:t>  • Product/Version Management</a:t>
            </a:r>
          </a:p>
          <a:p>
            <a:pPr>
              <a:defRPr sz="1400"/>
            </a:pPr>
            <a:r>
              <a:t>  • Customer/Tenant/Deployment APIs</a:t>
            </a:r>
          </a:p>
          <a:p>
            <a:pPr>
              <a:defRPr sz="1400"/>
            </a:pPr>
            <a:r>
              <a:t>  • License Management</a:t>
            </a:r>
          </a:p>
          <a:p>
            <a:br/>
            <a:r>
              <a:t>MongoDB Database</a:t>
            </a:r>
          </a:p>
          <a:p>
            <a:pPr>
              <a:defRPr sz="1400"/>
            </a:pPr>
            <a:r>
              <a:t>  • Products, Versions, Customers</a:t>
            </a:r>
          </a:p>
          <a:p>
            <a:pPr>
              <a:defRPr sz="1400"/>
            </a:pPr>
            <a:r>
              <a:t>  • Deployments, Licenses, Audit Logs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Key Features - Product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t>📦 Product Management</a:t>
            </a:r>
          </a:p>
          <a:p>
            <a:r>
              <a:t>   • Support for all Accops products (Server &amp; Client)</a:t>
            </a:r>
          </a:p>
          <a:p>
            <a:r>
              <a:t>   • Product metadata and categorization</a:t>
            </a:r>
          </a:p>
          <a:p>
            <a:r>
              <a:t>   • Multi-platform support (Windows, Linux, Mobile)</a:t>
            </a:r>
          </a:p>
          <a:p>
            <a:br/>
            <a:r>
              <a:t>🔢 Version Management</a:t>
            </a:r>
          </a:p>
          <a:p>
            <a:r>
              <a:t>   • Semantic versioning support</a:t>
            </a:r>
          </a:p>
          <a:p>
            <a:r>
              <a:t>   • Release types: Security, Feature, Maintenance, Major</a:t>
            </a:r>
          </a:p>
          <a:p>
            <a:r>
              <a:t>   • Version states: Draft → Pending Review → Approved → Released</a:t>
            </a:r>
          </a:p>
          <a:p>
            <a:br/>
            <a:r>
              <a:t>📝 Release Notes</a:t>
            </a:r>
          </a:p>
          <a:p>
            <a:r>
              <a:t>   • Structured release notes format</a:t>
            </a:r>
          </a:p>
          <a:p>
            <a:r>
              <a:t>   • What's New, Bug Fixes, Breaking Changes</a:t>
            </a:r>
          </a:p>
          <a:p>
            <a:r>
              <a:t>   • Compatibility information</a:t>
            </a:r>
          </a:p>
          <a:p>
            <a:r>
              <a:t>   • Upgrade instructions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- Release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t>Streamlined Release Process</a:t>
            </a:r>
          </a:p>
          <a:p>
            <a:br/>
            <a:r>
              <a:t>Pre-Release Phase</a:t>
            </a:r>
          </a:p>
          <a:p>
            <a:pPr lvl="1"/>
            <a:r>
              <a:t>1. Version preparation with metadata</a:t>
            </a:r>
          </a:p>
          <a:p>
            <a:pPr lvl="1"/>
            <a:r>
              <a:t>2. Compatibility validation</a:t>
            </a:r>
          </a:p>
          <a:p>
            <a:pPr lvl="1"/>
            <a:r>
              <a:t>3. Package upload with integrity checks</a:t>
            </a:r>
          </a:p>
          <a:p>
            <a:br/>
            <a:r>
              <a:t>Release Phase</a:t>
            </a:r>
          </a:p>
          <a:p>
            <a:pPr lvl="1"/>
            <a:r>
              <a:t>4. Release approval workflow</a:t>
            </a:r>
          </a:p>
          <a:p>
            <a:pPr lvl="1"/>
            <a:r>
              <a:t>5. Automatic notification generation</a:t>
            </a:r>
          </a:p>
          <a:p>
            <a:pPr lvl="1"/>
            <a:r>
              <a:t>6. Release notes publication</a:t>
            </a:r>
          </a:p>
          <a:p>
            <a:br/>
            <a:r>
              <a:t>Post-Release Phase</a:t>
            </a:r>
          </a:p>
          <a:p>
            <a:pPr lvl="1"/>
            <a:r>
              <a:t>7. Update detection</a:t>
            </a:r>
          </a:p>
          <a:p>
            <a:pPr lvl="1"/>
            <a:r>
              <a:t>8. Update rollout management</a:t>
            </a:r>
          </a:p>
          <a:p>
            <a:pPr lvl="1"/>
            <a:r>
              <a:t>9. Progress tracking and audit logging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Key Features - Customer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t>Customer, Tenant &amp; Deployment Management</a:t>
            </a:r>
          </a:p>
          <a:p>
            <a:br/>
            <a:r>
              <a:t>👥 Customer Management</a:t>
            </a:r>
          </a:p>
          <a:p>
            <a:pPr lvl="1"/>
            <a:r>
              <a:t>   • Customer registration and profiles</a:t>
            </a:r>
          </a:p>
          <a:p>
            <a:pPr lvl="1"/>
            <a:r>
              <a:t>   • Organization details and contact information</a:t>
            </a:r>
          </a:p>
          <a:p>
            <a:pPr lvl="1"/>
            <a:r>
              <a:t>   • Account status tracking</a:t>
            </a:r>
          </a:p>
          <a:p>
            <a:br/>
            <a:r>
              <a:t>🏢 Tenant Management</a:t>
            </a:r>
          </a:p>
          <a:p>
            <a:pPr lvl="1"/>
            <a:r>
              <a:t>   • Multiple tenants per customer</a:t>
            </a:r>
          </a:p>
          <a:p>
            <a:pPr lvl="1"/>
            <a:r>
              <a:t>   • Independent deployment organization</a:t>
            </a:r>
          </a:p>
          <a:p>
            <a:pPr lvl="1"/>
            <a:r>
              <a:t>   • Tenant-level statistics and views</a:t>
            </a:r>
          </a:p>
          <a:p>
            <a:br/>
            <a:r>
              <a:t>🚀 Deployment Management</a:t>
            </a:r>
          </a:p>
          <a:p>
            <a:pPr lvl="1"/>
            <a:r>
              <a:t>   • Product deployments per tenant</a:t>
            </a:r>
          </a:p>
          <a:p>
            <a:pPr lvl="1"/>
            <a:r>
              <a:t>   • UAT/Production environment distinction</a:t>
            </a:r>
          </a:p>
          <a:p>
            <a:pPr lvl="1"/>
            <a:r>
              <a:t>   • Version tracking per deployment</a:t>
            </a:r>
          </a:p>
          <a:p>
            <a:pPr lvl="1"/>
            <a:r>
              <a:t>   • User count and license information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- Pending Updates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t>Intelligent Update Tracking</a:t>
            </a:r>
          </a:p>
          <a:p>
            <a:br/>
            <a:r>
              <a:t>🔍 Automatic Detection</a:t>
            </a:r>
          </a:p>
          <a:p>
            <a:pPr lvl="1"/>
            <a:r>
              <a:t>   • Real-time calculation of pending updates</a:t>
            </a:r>
          </a:p>
          <a:p>
            <a:pPr lvl="1"/>
            <a:r>
              <a:t>   • Version gap analysis (patch, minor, major)</a:t>
            </a:r>
          </a:p>
          <a:p>
            <a:pPr lvl="1"/>
            <a:r>
              <a:t>   • Security update indicators</a:t>
            </a:r>
          </a:p>
          <a:p>
            <a:br/>
            <a:r>
              <a:t>📊 Multi-Level Visibility</a:t>
            </a:r>
          </a:p>
          <a:p>
            <a:pPr lvl="1"/>
            <a:r>
              <a:t>   • Deployment-level pending updates</a:t>
            </a:r>
          </a:p>
          <a:p>
            <a:pPr lvl="1"/>
            <a:r>
              <a:t>   • Tenant-level aggregation</a:t>
            </a:r>
          </a:p>
          <a:p>
            <a:pPr lvl="1"/>
            <a:r>
              <a:t>   • Customer-level dashboard</a:t>
            </a:r>
          </a:p>
          <a:p>
            <a:pPr lvl="1"/>
            <a:r>
              <a:t>   • System-wide admin view</a:t>
            </a:r>
          </a:p>
          <a:p>
            <a:br/>
            <a:r>
              <a:t>🎯 Smart Prioritization</a:t>
            </a:r>
          </a:p>
          <a:p>
            <a:pPr lvl="1"/>
            <a:r>
              <a:t>   • Critical: Security releases, EOL approaching</a:t>
            </a:r>
          </a:p>
          <a:p>
            <a:pPr lvl="1"/>
            <a:r>
              <a:t>   • High: Major updates, Production deployments</a:t>
            </a:r>
          </a:p>
          <a:p>
            <a:pPr lvl="1"/>
            <a:r>
              <a:t>   • Normal: Minor/patch updates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Key Features - License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t>Comprehensive License System</a:t>
            </a:r>
          </a:p>
          <a:p>
            <a:br/>
            <a:r>
              <a:t>📜 Subscription Management</a:t>
            </a:r>
          </a:p>
          <a:p>
            <a:pPr lvl="1"/>
            <a:r>
              <a:t>   • Customer subscriptions</a:t>
            </a:r>
          </a:p>
          <a:p>
            <a:pPr lvl="1"/>
            <a:r>
              <a:t>   • Time-based and perpetual licenses</a:t>
            </a:r>
          </a:p>
          <a:p>
            <a:pPr lvl="1"/>
            <a:r>
              <a:t>   • Status tracking (Active, Expired, Suspended)</a:t>
            </a:r>
          </a:p>
          <a:p>
            <a:br/>
            <a:r>
              <a:t>🎫 License Assignment</a:t>
            </a:r>
          </a:p>
          <a:p>
            <a:pPr lvl="1"/>
            <a:r>
              <a:t>   • Product-specific licenses</a:t>
            </a:r>
          </a:p>
          <a:p>
            <a:pPr lvl="1"/>
            <a:r>
              <a:t>   • User/seat allocation</a:t>
            </a:r>
          </a:p>
          <a:p>
            <a:pPr lvl="1"/>
            <a:r>
              <a:t>   • License distribution across tenants/deployments</a:t>
            </a:r>
          </a:p>
          <a:p>
            <a:br/>
            <a:r>
              <a:t>📈 License Dashboard</a:t>
            </a:r>
          </a:p>
          <a:p>
            <a:pPr lvl="1"/>
            <a:r>
              <a:t>   • Utilization tracking</a:t>
            </a:r>
          </a:p>
          <a:p>
            <a:pPr lvl="1"/>
            <a:r>
              <a:t>   • Expiration warnings (30/60/90 days)</a:t>
            </a:r>
          </a:p>
          <a:p>
            <a:pPr lvl="1"/>
            <a:r>
              <a:t>   • Compliance reporting</a:t>
            </a:r>
          </a:p>
          <a:p>
            <a:pPr lvl="1"/>
            <a:r>
              <a:t>   • Allocation history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- Notifications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t>Automated Notification System</a:t>
            </a:r>
          </a:p>
          <a:p>
            <a:br/>
            <a:r>
              <a:t>🔔 Automatic Detection</a:t>
            </a:r>
          </a:p>
          <a:p>
            <a:pPr lvl="1"/>
            <a:r>
              <a:t>   • New version release detection</a:t>
            </a:r>
          </a:p>
          <a:p>
            <a:pPr lvl="1"/>
            <a:r>
              <a:t>   • Affected customer identification</a:t>
            </a:r>
          </a:p>
          <a:p>
            <a:pPr lvl="1"/>
            <a:r>
              <a:t>   • Deployment-level impact analysis</a:t>
            </a:r>
          </a:p>
          <a:p>
            <a:br/>
            <a:r>
              <a:t>📧 Multi-Channel Delivery</a:t>
            </a:r>
          </a:p>
          <a:p>
            <a:pPr lvl="1"/>
            <a:r>
              <a:t>   • In-app notifications with real-time polling</a:t>
            </a:r>
          </a:p>
          <a:p>
            <a:pPr lvl="1"/>
            <a:r>
              <a:t>   • Notification center with badge counts</a:t>
            </a:r>
          </a:p>
          <a:p>
            <a:pPr lvl="1"/>
            <a:r>
              <a:t>   • Email notifications (future)</a:t>
            </a:r>
          </a:p>
          <a:p>
            <a:br/>
            <a:r>
              <a:t>📋 Smart Notifications</a:t>
            </a:r>
          </a:p>
          <a:p>
            <a:pPr lvl="1"/>
            <a:r>
              <a:t>   • Priority-based delivery</a:t>
            </a:r>
          </a:p>
          <a:p>
            <a:pPr lvl="1"/>
            <a:r>
              <a:t>   • UAT vs Production distinction</a:t>
            </a:r>
          </a:p>
          <a:p>
            <a:pPr lvl="1"/>
            <a:r>
              <a:t>   • Release notes summary</a:t>
            </a:r>
          </a:p>
          <a:p>
            <a:pPr lvl="1"/>
            <a:r>
              <a:t>   • Direct action links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Supported 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t>Accops Product Portfolio</a:t>
            </a:r>
          </a:p>
          <a:p>
            <a:br/>
            <a:r>
              <a:t>Server Products</a:t>
            </a:r>
          </a:p>
          <a:p>
            <a:pPr lvl="1"/>
            <a:r>
              <a:t>   • HyWorks - Application virtualization platform</a:t>
            </a:r>
          </a:p>
          <a:p>
            <a:pPr lvl="1"/>
            <a:r>
              <a:t>   • HySecure - Secure remote access/VPN</a:t>
            </a:r>
          </a:p>
          <a:p>
            <a:pPr lvl="1"/>
            <a:r>
              <a:t>   • IRIS - Identity and access management</a:t>
            </a:r>
          </a:p>
          <a:p>
            <a:pPr lvl="1"/>
            <a:r>
              <a:t>   • ARS - Resource management and provisioning</a:t>
            </a:r>
          </a:p>
          <a:p>
            <a:br/>
            <a:r>
              <a:t>Client Products</a:t>
            </a:r>
          </a:p>
          <a:p>
            <a:pPr lvl="1"/>
            <a:r>
              <a:t>   • Clients for Linux - Linux client applications</a:t>
            </a:r>
          </a:p>
          <a:p>
            <a:pPr lvl="1"/>
            <a:r>
              <a:t>   • Clients for Windows - Windows client applications</a:t>
            </a:r>
          </a:p>
          <a:p>
            <a:pPr lvl="1"/>
            <a:r>
              <a:t>   • Mobile Clients - iOS and Android apps</a:t>
            </a:r>
          </a:p>
          <a:p>
            <a:br/>
            <a:r>
              <a:t>Update Strategies</a:t>
            </a:r>
          </a:p>
          <a:p>
            <a:pPr lvl="1"/>
            <a:r>
              <a:t>   • Blue-Green Deployment (Server products - zero downtime)</a:t>
            </a:r>
          </a:p>
          <a:p>
            <a:pPr lvl="1"/>
            <a:r>
              <a:t>   • In-Place Updates (Client products)</a:t>
            </a:r>
          </a:p>
          <a:p>
            <a:pPr lvl="1"/>
            <a:r>
              <a:t>   • App Store Distribution (Mobile)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t>Modern Technology Stack</a:t>
            </a:r>
          </a:p>
          <a:p>
            <a:br/>
            <a:r>
              <a:t>Backend</a:t>
            </a:r>
          </a:p>
          <a:p>
            <a:pPr lvl="1"/>
            <a:r>
              <a:t>   • Go 1.21+ - High-performance backend</a:t>
            </a:r>
          </a:p>
          <a:p>
            <a:pPr lvl="1"/>
            <a:r>
              <a:t>   • MongoDB 6.0+ - Flexible document database</a:t>
            </a:r>
          </a:p>
          <a:p>
            <a:pPr lvl="1"/>
            <a:r>
              <a:t>   • JWT Authentication - Secure API access</a:t>
            </a:r>
          </a:p>
          <a:p>
            <a:pPr lvl="1"/>
            <a:r>
              <a:t>   • RESTful API - Standard HTTP endpoints</a:t>
            </a:r>
          </a:p>
          <a:p>
            <a:br/>
            <a:r>
              <a:t>Frontend</a:t>
            </a:r>
          </a:p>
          <a:p>
            <a:pPr lvl="1"/>
            <a:r>
              <a:t>   • React - Modern UI framework</a:t>
            </a:r>
          </a:p>
          <a:p>
            <a:pPr lvl="1"/>
            <a:r>
              <a:t>   • TypeScript - Type-safe development</a:t>
            </a:r>
          </a:p>
          <a:p>
            <a:pPr lvl="1"/>
            <a:r>
              <a:t>   • Tailwind CSS - Utility-first styling</a:t>
            </a:r>
          </a:p>
          <a:p>
            <a:pPr lvl="1"/>
            <a:r>
              <a:t>   • Playwright - E2E testing</a:t>
            </a:r>
          </a:p>
          <a:p>
            <a:br/>
            <a:r>
              <a:t>Infrastructure</a:t>
            </a:r>
          </a:p>
          <a:p>
            <a:pPr lvl="1"/>
            <a:r>
              <a:t>   • Docker - Containerization</a:t>
            </a:r>
          </a:p>
          <a:p>
            <a:pPr lvl="1"/>
            <a:r>
              <a:t>   • Makefile - Build automation</a:t>
            </a:r>
          </a:p>
          <a:p>
            <a:pPr lvl="1"/>
            <a:r>
              <a:t>   • Load Testing - Artillery for performance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t>Phased Delivery Approach</a:t>
            </a:r>
          </a:p>
          <a:p>
            <a:br/>
            <a:r>
              <a:t>Phase 1: Foundation &amp; Core Release Management ✅</a:t>
            </a:r>
          </a:p>
          <a:p>
            <a:pPr lvl="1"/>
            <a:r>
              <a:t>   • Product and version management</a:t>
            </a:r>
          </a:p>
          <a:p>
            <a:pPr lvl="1"/>
            <a:r>
              <a:t>   • Package upload and storage</a:t>
            </a:r>
          </a:p>
          <a:p>
            <a:pPr lvl="1"/>
            <a:r>
              <a:t>   • Release approval workflow</a:t>
            </a:r>
          </a:p>
          <a:p>
            <a:pPr lvl="1"/>
            <a:r>
              <a:t>   • Basic portal UI</a:t>
            </a:r>
          </a:p>
          <a:p>
            <a:br/>
            <a:r>
              <a:t>Phase 2: Enhanced Release Management ✅</a:t>
            </a:r>
          </a:p>
          <a:p>
            <a:pPr lvl="1"/>
            <a:r>
              <a:t>   • Compatibility validation</a:t>
            </a:r>
          </a:p>
          <a:p>
            <a:pPr lvl="1"/>
            <a:r>
              <a:t>   • Notification system</a:t>
            </a:r>
          </a:p>
          <a:p>
            <a:pPr lvl="1"/>
            <a:r>
              <a:t>   • Update detection</a:t>
            </a:r>
          </a:p>
          <a:p>
            <a:pPr lvl="1"/>
            <a:r>
              <a:t>   • Update rollout management</a:t>
            </a:r>
          </a:p>
          <a:p>
            <a:br/>
            <a:r>
              <a:t>Phase 3: Integration &amp; Optimization ✅</a:t>
            </a:r>
          </a:p>
          <a:p>
            <a:pPr lvl="1"/>
            <a:r>
              <a:t>   • Pending updates integration</a:t>
            </a:r>
          </a:p>
          <a:p>
            <a:pPr lvl="1"/>
            <a:r>
              <a:t>   • Performance caching</a:t>
            </a:r>
          </a:p>
          <a:p>
            <a:pPr lvl="1"/>
            <a:r>
              <a:t>   • Enhanced testing</a:t>
            </a:r>
          </a:p>
          <a:p>
            <a:pPr lvl="1"/>
            <a:r>
              <a:t>   • Workflow automation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- Operational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t>Operational Benefits</a:t>
            </a:r>
          </a:p>
          <a:p>
            <a:br/>
            <a:r>
              <a:t>⏱️ Time Savings</a:t>
            </a:r>
          </a:p>
          <a:p>
            <a:pPr lvl="1"/>
            <a:r>
              <a:t>   • Automated update detection</a:t>
            </a:r>
          </a:p>
          <a:p>
            <a:pPr lvl="1"/>
            <a:r>
              <a:t>   • Batch update capabilities</a:t>
            </a:r>
          </a:p>
          <a:p>
            <a:pPr lvl="1"/>
            <a:r>
              <a:t>   • Reduced manual coordination</a:t>
            </a:r>
          </a:p>
          <a:p>
            <a:br/>
            <a:r>
              <a:t>👁️ Visibility</a:t>
            </a:r>
          </a:p>
          <a:p>
            <a:pPr lvl="1"/>
            <a:r>
              <a:t>   • Real-time status dashboard</a:t>
            </a:r>
          </a:p>
          <a:p>
            <a:pPr lvl="1"/>
            <a:r>
              <a:t>   • Centralized version tracking</a:t>
            </a:r>
          </a:p>
          <a:p>
            <a:pPr lvl="1"/>
            <a:r>
              <a:t>   • Comprehensive audit trails</a:t>
            </a:r>
          </a:p>
          <a:p>
            <a:br/>
            <a:r>
              <a:t>🔄 Automation</a:t>
            </a:r>
          </a:p>
          <a:p>
            <a:pPr lvl="1"/>
            <a:r>
              <a:t>   • Automated notifications</a:t>
            </a:r>
          </a:p>
          <a:p>
            <a:pPr lvl="1"/>
            <a:r>
              <a:t>   • Compatibility validation</a:t>
            </a:r>
          </a:p>
          <a:p>
            <a:pPr lvl="1"/>
            <a:r>
              <a:t>   • Release workflow automation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- Risk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t>Risk Mitigation</a:t>
            </a:r>
          </a:p>
          <a:p>
            <a:br/>
            <a:r>
              <a:t>✅ Compatibility Assurance</a:t>
            </a:r>
          </a:p>
          <a:p>
            <a:pPr lvl="1"/>
            <a:r>
              <a:t>   • Pre-update compatibility validation</a:t>
            </a:r>
          </a:p>
          <a:p>
            <a:pPr lvl="1"/>
            <a:r>
              <a:t>   • Upgrade path calculations</a:t>
            </a:r>
          </a:p>
          <a:p>
            <a:pPr lvl="1"/>
            <a:r>
              <a:t>   • Dependency checking</a:t>
            </a:r>
          </a:p>
          <a:p>
            <a:br/>
            <a:r>
              <a:t>🛡️ Security</a:t>
            </a:r>
          </a:p>
          <a:p>
            <a:pPr lvl="1"/>
            <a:r>
              <a:t>   • Security release prioritization</a:t>
            </a:r>
          </a:p>
          <a:p>
            <a:pPr lvl="1"/>
            <a:r>
              <a:t>   • Integrity verification (checksums)</a:t>
            </a:r>
          </a:p>
          <a:p>
            <a:pPr lvl="1"/>
            <a:r>
              <a:t>   • Secure package distribution</a:t>
            </a:r>
          </a:p>
          <a:p>
            <a:br/>
            <a:r>
              <a:t>🔄 Rollback Capability</a:t>
            </a:r>
          </a:p>
          <a:p>
            <a:pPr lvl="1"/>
            <a:r>
              <a:t>   • Update failure handling</a:t>
            </a:r>
          </a:p>
          <a:p>
            <a:pPr lvl="1"/>
            <a:r>
              <a:t>   • Version rollback support</a:t>
            </a:r>
          </a:p>
          <a:p>
            <a:pPr lvl="1"/>
            <a:r>
              <a:t>   • Audit trail for compliance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- Customer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t>Enhanced Customer Experience</a:t>
            </a:r>
          </a:p>
          <a:p>
            <a:br/>
            <a:r>
              <a:t>🎯 Proactive Communication</a:t>
            </a:r>
          </a:p>
          <a:p>
            <a:pPr lvl="1"/>
            <a:r>
              <a:t>   • Automatic notifications on new releases</a:t>
            </a:r>
          </a:p>
          <a:p>
            <a:pPr lvl="1"/>
            <a:r>
              <a:t>   • Release notes with clear information</a:t>
            </a:r>
          </a:p>
          <a:p>
            <a:pPr lvl="1"/>
            <a:r>
              <a:t>   • Upgrade path guidance</a:t>
            </a:r>
          </a:p>
          <a:p>
            <a:br/>
            <a:r>
              <a:t>📱 Self-Service Portal</a:t>
            </a:r>
          </a:p>
          <a:p>
            <a:pPr lvl="1"/>
            <a:r>
              <a:t>   • Customer dashboard</a:t>
            </a:r>
          </a:p>
          <a:p>
            <a:pPr lvl="1"/>
            <a:r>
              <a:t>   • Deployment management</a:t>
            </a:r>
          </a:p>
          <a:p>
            <a:pPr lvl="1"/>
            <a:r>
              <a:t>   • Version tracking</a:t>
            </a:r>
          </a:p>
          <a:p>
            <a:br/>
            <a:r>
              <a:t>📊 Transparency</a:t>
            </a:r>
          </a:p>
          <a:p>
            <a:pPr lvl="1"/>
            <a:r>
              <a:t>   • Clear version status</a:t>
            </a:r>
          </a:p>
          <a:p>
            <a:pPr lvl="1"/>
            <a:r>
              <a:t>   • Pending updates visibility</a:t>
            </a:r>
          </a:p>
          <a:p>
            <a:pPr lvl="1"/>
            <a:r>
              <a:t>   • License utilization tracking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t>Upcoming Enhancements</a:t>
            </a:r>
          </a:p>
          <a:p>
            <a:br/>
            <a:r>
              <a:t>Phase 4: Advanced Features</a:t>
            </a:r>
          </a:p>
          <a:p>
            <a:pPr lvl="1"/>
            <a:r>
              <a:t>   • Update Agent implementation</a:t>
            </a:r>
          </a:p>
          <a:p>
            <a:pPr lvl="1"/>
            <a:r>
              <a:t>   • Automated update scheduling</a:t>
            </a:r>
          </a:p>
          <a:p>
            <a:pPr lvl="1"/>
            <a:r>
              <a:t>   • A/B testing capabilities</a:t>
            </a:r>
          </a:p>
          <a:p>
            <a:pPr lvl="1"/>
            <a:r>
              <a:t>   • Update preview/sandbox</a:t>
            </a:r>
          </a:p>
          <a:p>
            <a:br/>
            <a:r>
              <a:t>Phase 5: Integration</a:t>
            </a:r>
          </a:p>
          <a:p>
            <a:pPr lvl="1"/>
            <a:r>
              <a:t>   • CI/CD pipeline integration</a:t>
            </a:r>
          </a:p>
          <a:p>
            <a:pPr lvl="1"/>
            <a:r>
              <a:t>   • Third-party monitoring tools</a:t>
            </a:r>
          </a:p>
          <a:p>
            <a:pPr lvl="1"/>
            <a:r>
              <a:t>   • Mobile app for management</a:t>
            </a:r>
          </a:p>
          <a:p>
            <a:pPr lvl="1"/>
            <a:r>
              <a:t>   • Advanced analytics dashboard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Update Manager - Transforming Product Release Management</a:t>
            </a:r>
          </a:p>
          <a:p>
            <a:br/>
            <a:r>
              <a:t>Key Takeaways</a:t>
            </a:r>
          </a:p>
          <a:p>
            <a:pPr lvl="1"/>
            <a:r>
              <a:t>   • Centralized version control and visibility</a:t>
            </a:r>
          </a:p>
          <a:p>
            <a:pPr lvl="1"/>
            <a:r>
              <a:t>   • Automated workflows reduce manual overhead</a:t>
            </a:r>
          </a:p>
          <a:p>
            <a:pPr lvl="1"/>
            <a:r>
              <a:t>   • Enhanced customer experience</a:t>
            </a:r>
          </a:p>
          <a:p>
            <a:pPr lvl="1"/>
            <a:r>
              <a:t>   • Enterprise-grade security and compliance</a:t>
            </a:r>
          </a:p>
          <a:p>
            <a:pPr lvl="1"/>
            <a:r>
              <a:t>   • Scalable and performant architecture</a:t>
            </a:r>
          </a:p>
          <a:p>
            <a:br/>
            <a:r>
              <a:t>Value Delivered</a:t>
            </a:r>
          </a:p>
          <a:p>
            <a:pPr lvl="1"/>
            <a:r>
              <a:t>   • Operational efficiency improvements</a:t>
            </a:r>
          </a:p>
          <a:p>
            <a:pPr lvl="1"/>
            <a:r>
              <a:t>   • Risk reduction through automation</a:t>
            </a:r>
          </a:p>
          <a:p>
            <a:pPr lvl="1"/>
            <a:r>
              <a:t>   • Better customer engagement</a:t>
            </a:r>
          </a:p>
          <a:p>
            <a:pPr lvl="1"/>
            <a:r>
              <a:t>   • Comprehensive audit and compliance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47500" lnSpcReduction="20000"/>
          </a:bodyPr>
          <a:lstStyle/>
          <a:p>
            <a:r>
              <a:t>Questions &amp; Discussion</a:t>
            </a:r>
          </a:p>
          <a:p>
            <a:endParaRPr/>
          </a:p>
          <a:p>
            <a:r>
              <a:t>Project Repository: UpdateManager</a:t>
            </a:r>
          </a:p>
          <a:p>
            <a:r>
              <a:t>Documentation: /docs directory</a:t>
            </a:r>
          </a:p>
          <a:p>
            <a:r>
              <a:t>API Specification: /docs/api-specification.md</a:t>
            </a:r>
          </a:p>
          <a:p>
            <a:endParaRPr/>
          </a:p>
          <a:p>
            <a:r>
              <a:t>Accops Technologies - 2025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840F1-5EE8-EB04-27D6-85AFB13C9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96912"/>
          </a:xfrm>
        </p:spPr>
        <p:txBody>
          <a:bodyPr>
            <a:normAutofit fontScale="90000"/>
          </a:bodyPr>
          <a:lstStyle/>
          <a:p>
            <a:r>
              <a:rPr lang="en-IN" dirty="0"/>
              <a:t>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EEDE85-3CA1-3725-BE9A-91072B349C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4396" y="1499077"/>
            <a:ext cx="8375207" cy="4501673"/>
          </a:xfrm>
        </p:spPr>
      </p:pic>
    </p:spTree>
    <p:extLst>
      <p:ext uri="{BB962C8B-B14F-4D97-AF65-F5344CB8AC3E}">
        <p14:creationId xmlns:p14="http://schemas.microsoft.com/office/powerpoint/2010/main" val="4884940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FC954-2C16-8514-7C87-0CCFB3529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5F4A8-EB96-7662-2530-A899CE44B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96912"/>
          </a:xfrm>
        </p:spPr>
        <p:txBody>
          <a:bodyPr>
            <a:normAutofit fontScale="90000"/>
          </a:bodyPr>
          <a:lstStyle/>
          <a:p>
            <a:r>
              <a:rPr lang="en-IN" dirty="0"/>
              <a:t>Products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6AFFEE-A411-89DF-4BC6-2E0822A80F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384396" y="1499077"/>
            <a:ext cx="8375207" cy="4501673"/>
          </a:xfrm>
        </p:spPr>
      </p:pic>
    </p:spTree>
    <p:extLst>
      <p:ext uri="{BB962C8B-B14F-4D97-AF65-F5344CB8AC3E}">
        <p14:creationId xmlns:p14="http://schemas.microsoft.com/office/powerpoint/2010/main" val="31930095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FBC0B-657E-0AE1-9C22-685E4301B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12F4B-D28F-DC15-FB27-B7395E4E6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96912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Products</a:t>
            </a:r>
            <a:r>
              <a:rPr lang="en-IN" dirty="0" err="1">
                <a:sym typeface="Wingdings" panose="05000000000000000000" pitchFamily="2" charset="2"/>
              </a:rPr>
              <a:t>Create</a:t>
            </a:r>
            <a:r>
              <a:rPr lang="en-IN" dirty="0">
                <a:sym typeface="Wingdings" panose="05000000000000000000" pitchFamily="2" charset="2"/>
              </a:rPr>
              <a:t> Product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56C905-C070-F43D-9FD5-CA94118952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51477"/>
            <a:ext cx="8229600" cy="4423409"/>
          </a:xfrm>
        </p:spPr>
      </p:pic>
    </p:spTree>
    <p:extLst>
      <p:ext uri="{BB962C8B-B14F-4D97-AF65-F5344CB8AC3E}">
        <p14:creationId xmlns:p14="http://schemas.microsoft.com/office/powerpoint/2010/main" val="38176457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74A54-C3EB-18B7-5D1E-E1CE1D2E0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2B6CB-3A6E-3F46-3232-A9AAEC060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96912"/>
          </a:xfrm>
        </p:spPr>
        <p:txBody>
          <a:bodyPr>
            <a:normAutofit fontScale="90000"/>
          </a:bodyPr>
          <a:lstStyle/>
          <a:p>
            <a:r>
              <a:rPr lang="en-IN" dirty="0"/>
              <a:t>Versions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BFB19A7-A0DE-D36B-0A9D-CBF9A38B1C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51477"/>
            <a:ext cx="8229600" cy="4423409"/>
          </a:xfrm>
        </p:spPr>
      </p:pic>
    </p:spTree>
    <p:extLst>
      <p:ext uri="{BB962C8B-B14F-4D97-AF65-F5344CB8AC3E}">
        <p14:creationId xmlns:p14="http://schemas.microsoft.com/office/powerpoint/2010/main" val="35968161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27A55-2853-5A7F-A8A7-E4F4B803B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95DA2-A989-AF1D-A455-CA0F54A10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96912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Versions</a:t>
            </a:r>
            <a:r>
              <a:rPr lang="en-IN" dirty="0" err="1">
                <a:sym typeface="Wingdings" panose="05000000000000000000" pitchFamily="2" charset="2"/>
              </a:rPr>
              <a:t>Create</a:t>
            </a:r>
            <a:r>
              <a:rPr lang="en-IN" dirty="0">
                <a:sym typeface="Wingdings" panose="05000000000000000000" pitchFamily="2" charset="2"/>
              </a:rPr>
              <a:t> Version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256B2E-1167-9B61-A143-BF3361CE94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51477"/>
            <a:ext cx="8229600" cy="4423409"/>
          </a:xfrm>
        </p:spPr>
      </p:pic>
    </p:spTree>
    <p:extLst>
      <p:ext uri="{BB962C8B-B14F-4D97-AF65-F5344CB8AC3E}">
        <p14:creationId xmlns:p14="http://schemas.microsoft.com/office/powerpoint/2010/main" val="42400134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6ECAD-CA7C-A17E-8F50-2A2B20BF9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C2ACE-E32D-FBFF-8EA3-B6448BD92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96912"/>
          </a:xfrm>
        </p:spPr>
        <p:txBody>
          <a:bodyPr>
            <a:normAutofit fontScale="90000"/>
          </a:bodyPr>
          <a:lstStyle/>
          <a:p>
            <a:r>
              <a:rPr lang="en-IN" dirty="0"/>
              <a:t>Compatibility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338F90-7981-8AE5-37D7-697E1AA2F2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51477"/>
            <a:ext cx="8229600" cy="4423409"/>
          </a:xfrm>
        </p:spPr>
      </p:pic>
    </p:spTree>
    <p:extLst>
      <p:ext uri="{BB962C8B-B14F-4D97-AF65-F5344CB8AC3E}">
        <p14:creationId xmlns:p14="http://schemas.microsoft.com/office/powerpoint/2010/main" val="22189497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5C5C9-CEE9-D63F-0267-B703971AD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B8516-E8BE-9DD9-C02B-236EC7434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96912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Updates</a:t>
            </a:r>
            <a:r>
              <a:rPr lang="en-IN" dirty="0" err="1">
                <a:sym typeface="Wingdings" panose="05000000000000000000" pitchFamily="2" charset="2"/>
              </a:rPr>
              <a:t>Available</a:t>
            </a:r>
            <a:r>
              <a:rPr lang="en-IN" dirty="0">
                <a:sym typeface="Wingdings" panose="05000000000000000000" pitchFamily="2" charset="2"/>
              </a:rPr>
              <a:t> Updates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240191-D76F-D772-ABF0-AAD773A48E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51477"/>
            <a:ext cx="8229600" cy="4423409"/>
          </a:xfrm>
        </p:spPr>
      </p:pic>
    </p:spTree>
    <p:extLst>
      <p:ext uri="{BB962C8B-B14F-4D97-AF65-F5344CB8AC3E}">
        <p14:creationId xmlns:p14="http://schemas.microsoft.com/office/powerpoint/2010/main" val="14753823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A3B1D-0BE7-0E1F-E1FE-FCC34F732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EC5D4-B3E7-842C-3F46-6EA54A3F5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96912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Updates</a:t>
            </a:r>
            <a:r>
              <a:rPr lang="en-IN" dirty="0" err="1">
                <a:sym typeface="Wingdings" panose="05000000000000000000" pitchFamily="2" charset="2"/>
              </a:rPr>
              <a:t>Deployment</a:t>
            </a:r>
            <a:r>
              <a:rPr lang="en-IN" dirty="0">
                <a:sym typeface="Wingdings" panose="05000000000000000000" pitchFamily="2" charset="2"/>
              </a:rPr>
              <a:t> Update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A6C2A1-80DF-25D4-00A0-E6E638027C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51477"/>
            <a:ext cx="8229600" cy="4423409"/>
          </a:xfrm>
        </p:spPr>
      </p:pic>
    </p:spTree>
    <p:extLst>
      <p:ext uri="{BB962C8B-B14F-4D97-AF65-F5344CB8AC3E}">
        <p14:creationId xmlns:p14="http://schemas.microsoft.com/office/powerpoint/2010/main" val="38310872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4E66D-D671-4BE4-DA19-B03D94061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BAE5E-3137-928C-C77A-7E988B010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96912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Updates</a:t>
            </a:r>
            <a:r>
              <a:rPr lang="en-IN" dirty="0" err="1">
                <a:sym typeface="Wingdings" panose="05000000000000000000" pitchFamily="2" charset="2"/>
              </a:rPr>
              <a:t>Update</a:t>
            </a:r>
            <a:r>
              <a:rPr lang="en-IN" dirty="0">
                <a:sym typeface="Wingdings" panose="05000000000000000000" pitchFamily="2" charset="2"/>
              </a:rPr>
              <a:t> Detections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59C4E2-23A0-4D8A-EDE6-E6FABA802B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51477"/>
            <a:ext cx="8229600" cy="4423409"/>
          </a:xfrm>
        </p:spPr>
      </p:pic>
    </p:spTree>
    <p:extLst>
      <p:ext uri="{BB962C8B-B14F-4D97-AF65-F5344CB8AC3E}">
        <p14:creationId xmlns:p14="http://schemas.microsoft.com/office/powerpoint/2010/main" val="18048492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A1AED-652D-2F0C-A9E4-7CC760DFD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59106-F4CB-86F6-0C8E-0BEE05A57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96912"/>
          </a:xfrm>
        </p:spPr>
        <p:txBody>
          <a:bodyPr>
            <a:normAutofit/>
          </a:bodyPr>
          <a:lstStyle/>
          <a:p>
            <a:r>
              <a:rPr lang="en-IN" sz="2800" dirty="0" err="1"/>
              <a:t>Updates</a:t>
            </a:r>
            <a:r>
              <a:rPr lang="en-IN" sz="2800" dirty="0" err="1">
                <a:sym typeface="Wingdings" panose="05000000000000000000" pitchFamily="2" charset="2"/>
              </a:rPr>
              <a:t>Update</a:t>
            </a:r>
            <a:r>
              <a:rPr lang="en-IN" sz="2800" dirty="0">
                <a:sym typeface="Wingdings" panose="05000000000000000000" pitchFamily="2" charset="2"/>
              </a:rPr>
              <a:t> </a:t>
            </a:r>
            <a:r>
              <a:rPr lang="en-IN" sz="2800" dirty="0" err="1">
                <a:sym typeface="Wingdings" panose="05000000000000000000" pitchFamily="2" charset="2"/>
              </a:rPr>
              <a:t>DetectionsRegister</a:t>
            </a:r>
            <a:r>
              <a:rPr lang="en-IN" sz="2800" dirty="0">
                <a:sym typeface="Wingdings" panose="05000000000000000000" pitchFamily="2" charset="2"/>
              </a:rPr>
              <a:t> Detection</a:t>
            </a:r>
            <a:endParaRPr lang="en-IN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23BE42-EBB7-34C7-D7D8-51F775EF3D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51477"/>
            <a:ext cx="8229600" cy="4423409"/>
          </a:xfrm>
        </p:spPr>
      </p:pic>
    </p:spTree>
    <p:extLst>
      <p:ext uri="{BB962C8B-B14F-4D97-AF65-F5344CB8AC3E}">
        <p14:creationId xmlns:p14="http://schemas.microsoft.com/office/powerpoint/2010/main" val="42699724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A2EF2-8CEF-19B2-4B85-BF66157CC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ED6D1-72B1-754F-78F5-7DF395D95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96912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Updates</a:t>
            </a:r>
            <a:r>
              <a:rPr lang="en-IN" dirty="0" err="1">
                <a:sym typeface="Wingdings" panose="05000000000000000000" pitchFamily="2" charset="2"/>
              </a:rPr>
              <a:t>Rollouts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DFEA00-F13A-C83E-B1D1-73BE47C4AF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51477"/>
            <a:ext cx="8229600" cy="4423409"/>
          </a:xfrm>
        </p:spPr>
      </p:pic>
    </p:spTree>
    <p:extLst>
      <p:ext uri="{BB962C8B-B14F-4D97-AF65-F5344CB8AC3E}">
        <p14:creationId xmlns:p14="http://schemas.microsoft.com/office/powerpoint/2010/main" val="16203299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9C3D0-6CEA-5BAB-1149-51892B92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103D7-0C00-C45D-4C3F-699348C4C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96912"/>
          </a:xfrm>
        </p:spPr>
        <p:txBody>
          <a:bodyPr>
            <a:normAutofit fontScale="90000"/>
          </a:bodyPr>
          <a:lstStyle/>
          <a:p>
            <a:r>
              <a:rPr lang="en-IN" dirty="0"/>
              <a:t>Customers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38A66C-C957-22EC-3167-74C83BADF8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51477"/>
            <a:ext cx="8229600" cy="4423409"/>
          </a:xfrm>
        </p:spPr>
      </p:pic>
    </p:spTree>
    <p:extLst>
      <p:ext uri="{BB962C8B-B14F-4D97-AF65-F5344CB8AC3E}">
        <p14:creationId xmlns:p14="http://schemas.microsoft.com/office/powerpoint/2010/main" val="8020523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8BA29-A204-8296-BB8F-799815BE3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E5A50-8114-ED43-59A8-EE8A2467F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96912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Customers</a:t>
            </a:r>
            <a:r>
              <a:rPr lang="en-IN" dirty="0" err="1">
                <a:sym typeface="Wingdings" panose="05000000000000000000" pitchFamily="2" charset="2"/>
              </a:rPr>
              <a:t>Create</a:t>
            </a:r>
            <a:r>
              <a:rPr lang="en-IN" dirty="0">
                <a:sym typeface="Wingdings" panose="05000000000000000000" pitchFamily="2" charset="2"/>
              </a:rPr>
              <a:t> Customer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C8F435-AB5B-2A2C-29F8-6DCF000F7A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51477"/>
            <a:ext cx="8229600" cy="4423409"/>
          </a:xfrm>
        </p:spPr>
      </p:pic>
    </p:spTree>
    <p:extLst>
      <p:ext uri="{BB962C8B-B14F-4D97-AF65-F5344CB8AC3E}">
        <p14:creationId xmlns:p14="http://schemas.microsoft.com/office/powerpoint/2010/main" val="14671384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DB91C-5199-3364-9DA3-F7BF1D615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8A5AF-391A-5C9E-B7C9-495FEC00E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96912"/>
          </a:xfrm>
        </p:spPr>
        <p:txBody>
          <a:bodyPr>
            <a:normAutofit fontScale="90000"/>
          </a:bodyPr>
          <a:lstStyle/>
          <a:p>
            <a:r>
              <a:rPr lang="en-IN" dirty="0"/>
              <a:t>Licenses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31591C-D614-B484-8DA6-433EF81FEC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457200" y="1651477"/>
            <a:ext cx="8229600" cy="4423409"/>
          </a:xfrm>
        </p:spPr>
      </p:pic>
    </p:spTree>
    <p:extLst>
      <p:ext uri="{BB962C8B-B14F-4D97-AF65-F5344CB8AC3E}">
        <p14:creationId xmlns:p14="http://schemas.microsoft.com/office/powerpoint/2010/main" val="34061390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00119-F6D0-E602-4981-174F6AF94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5D4C8-CFEA-3B19-FE58-D5765D5E2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96912"/>
          </a:xfrm>
        </p:spPr>
        <p:txBody>
          <a:bodyPr>
            <a:normAutofit fontScale="90000"/>
          </a:bodyPr>
          <a:lstStyle/>
          <a:p>
            <a:r>
              <a:rPr lang="en-IN" dirty="0"/>
              <a:t>Notifications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C46AED-22C7-A369-AAAB-DCC879CD80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51477"/>
            <a:ext cx="8229600" cy="4423409"/>
          </a:xfrm>
        </p:spPr>
      </p:pic>
    </p:spTree>
    <p:extLst>
      <p:ext uri="{BB962C8B-B14F-4D97-AF65-F5344CB8AC3E}">
        <p14:creationId xmlns:p14="http://schemas.microsoft.com/office/powerpoint/2010/main" val="30808985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1A3D8-91EB-8758-306F-A83398879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AC0D4-730D-ABB1-F62F-C5888D7A2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96912"/>
          </a:xfrm>
        </p:spPr>
        <p:txBody>
          <a:bodyPr>
            <a:normAutofit fontScale="90000"/>
          </a:bodyPr>
          <a:lstStyle/>
          <a:p>
            <a:r>
              <a:rPr lang="en-IN" dirty="0"/>
              <a:t>Audit Logs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694C27-FBDC-73F7-6E1A-1F3614A894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51477"/>
            <a:ext cx="8229600" cy="4423409"/>
          </a:xfrm>
        </p:spPr>
      </p:pic>
    </p:spTree>
    <p:extLst>
      <p:ext uri="{BB962C8B-B14F-4D97-AF65-F5344CB8AC3E}">
        <p14:creationId xmlns:p14="http://schemas.microsoft.com/office/powerpoint/2010/main" val="307934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1452</Words>
  <Application>Microsoft Office PowerPoint</Application>
  <PresentationFormat>On-screen Show (4:3)</PresentationFormat>
  <Paragraphs>286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Calibri</vt:lpstr>
      <vt:lpstr>Wingdings</vt:lpstr>
      <vt:lpstr>Office Theme</vt:lpstr>
      <vt:lpstr>Update Manager</vt:lpstr>
      <vt:lpstr>Agenda</vt:lpstr>
      <vt:lpstr>Overview</vt:lpstr>
      <vt:lpstr>Problem Statement</vt:lpstr>
      <vt:lpstr>Solution Overview</vt:lpstr>
      <vt:lpstr>PowerPoint Presentation</vt:lpstr>
      <vt:lpstr>Key Features - Product Management</vt:lpstr>
      <vt:lpstr>Key Features - Release Workflow</vt:lpstr>
      <vt:lpstr>Key Features - Customer Management</vt:lpstr>
      <vt:lpstr>Key Features - Pending Updates</vt:lpstr>
      <vt:lpstr>Key Features - License Management</vt:lpstr>
      <vt:lpstr>Key Features - Notifications</vt:lpstr>
      <vt:lpstr>Supported Products</vt:lpstr>
      <vt:lpstr>Technical Stack</vt:lpstr>
      <vt:lpstr>Implementation Phases</vt:lpstr>
      <vt:lpstr>Benefits - Operational Efficiency</vt:lpstr>
      <vt:lpstr>Benefits - Risk Reduction</vt:lpstr>
      <vt:lpstr>Benefits - Customer Experience</vt:lpstr>
      <vt:lpstr>Future Roadmap</vt:lpstr>
      <vt:lpstr>Conclusion</vt:lpstr>
      <vt:lpstr>Thank You!</vt:lpstr>
      <vt:lpstr>Dashboard</vt:lpstr>
      <vt:lpstr>Products</vt:lpstr>
      <vt:lpstr>ProductsCreate Product</vt:lpstr>
      <vt:lpstr>Versions</vt:lpstr>
      <vt:lpstr>VersionsCreate Version</vt:lpstr>
      <vt:lpstr>Compatibility</vt:lpstr>
      <vt:lpstr>UpdatesAvailable Updates</vt:lpstr>
      <vt:lpstr>UpdatesDeployment Update</vt:lpstr>
      <vt:lpstr>UpdatesUpdate Detections</vt:lpstr>
      <vt:lpstr>UpdatesUpdate DetectionsRegister Detection</vt:lpstr>
      <vt:lpstr>UpdatesRollouts</vt:lpstr>
      <vt:lpstr>Customers</vt:lpstr>
      <vt:lpstr>CustomersCreate Customer</vt:lpstr>
      <vt:lpstr>Licenses</vt:lpstr>
      <vt:lpstr>Notifications</vt:lpstr>
      <vt:lpstr>Audit Logs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Akash Tiwari</cp:lastModifiedBy>
  <cp:revision>2</cp:revision>
  <dcterms:created xsi:type="dcterms:W3CDTF">2013-01-27T09:14:16Z</dcterms:created>
  <dcterms:modified xsi:type="dcterms:W3CDTF">2025-12-16T06:36:30Z</dcterms:modified>
  <cp:category/>
</cp:coreProperties>
</file>